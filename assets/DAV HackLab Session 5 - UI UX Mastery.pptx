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anrope SemiBold"/>
      <p:regular r:id="rId21"/>
      <p:bold r:id="rId22"/>
    </p:embeddedFont>
    <p:embeddedFont>
      <p:font typeface="Manrope"/>
      <p:regular r:id="rId23"/>
      <p:bold r:id="rId24"/>
    </p:embeddedFont>
    <p:embeddedFont>
      <p:font typeface="Urbanist"/>
      <p:regular r:id="rId25"/>
      <p:bold r:id="rId26"/>
      <p:italic r:id="rId27"/>
      <p:boldItalic r:id="rId28"/>
    </p:embeddedFont>
    <p:embeddedFont>
      <p:font typeface="Urbanist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0D428D-9613-4FF2-AE0C-9B80C5F68DC0}">
  <a:tblStyle styleId="{B10D428D-9613-4FF2-AE0C-9B80C5F68D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anropeSemiBold-bold.fntdata"/><Relationship Id="rId21" Type="http://schemas.openxmlformats.org/officeDocument/2006/relationships/font" Target="fonts/ManropeSemiBold-regular.fntdata"/><Relationship Id="rId24" Type="http://schemas.openxmlformats.org/officeDocument/2006/relationships/font" Target="fonts/Manrope-bold.fntdata"/><Relationship Id="rId23" Type="http://schemas.openxmlformats.org/officeDocument/2006/relationships/font" Target="fonts/Manrop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Extra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ec71d02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ec71d02c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ec71d02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ec71d02c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ec71d02c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ec71d02c6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ec71d02c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ec71d02c6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c71d02c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ec71d02c6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9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30.png"/><Relationship Id="rId7" Type="http://schemas.openxmlformats.org/officeDocument/2006/relationships/image" Target="../media/image46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40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4.png"/><Relationship Id="rId8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8637" y="4406205"/>
            <a:ext cx="3514725" cy="72568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38375" y="1726108"/>
            <a:ext cx="7715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DAV HACKLAB: SESSION 5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5493" y="2251769"/>
            <a:ext cx="8100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500" u="none" cap="none" strike="noStrike">
                <a:solidFill>
                  <a:srgbClr val="FFFFFF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UI/UX MASTERY</a:t>
            </a:r>
            <a:endParaRPr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45500" y="3490025"/>
            <a:ext cx="8563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150" u="none" cap="none" strike="noStrike">
                <a:solidFill>
                  <a:srgbClr val="94A3B8"/>
                </a:solidFill>
                <a:latin typeface="Manrope"/>
                <a:ea typeface="Manrope"/>
                <a:cs typeface="Manrope"/>
                <a:sym typeface="Manrope"/>
              </a:rPr>
              <a:t>Stepping into Professional App Development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86035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95437" y="3003351"/>
            <a:ext cx="90011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Great Leap Forward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809750" y="4022526"/>
            <a:ext cx="85725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Graduating from basic platforms to </a:t>
            </a: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Kodular.io</a:t>
            </a: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– where industry-standard apps are born.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6424"/>
            <a:ext cx="5238750" cy="316512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91403" y="5715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UI VS. UX: THE CORE DISTINCTION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55949"/>
            <a:ext cx="5219699" cy="31460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381750" y="2348061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Interface (UI)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900511"/>
            <a:ext cx="5238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It's about buttons, fonts, color palettes, and spacing. Think of it as the "aesthetic" of the car.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951833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Experience (UX)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504283"/>
            <a:ext cx="5238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feeling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It's about how easy it is to drive, how comfortable the seats are, and if the engine starts instantly. It's the "logic" of the journey.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54054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71625"/>
            <a:ext cx="54054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82107"/>
            <a:ext cx="5405437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4482107"/>
            <a:ext cx="5405437" cy="233719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14149" y="5715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4 PILLARS OF PROFESSIONAL UI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18669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66775" y="2390775"/>
            <a:ext cx="50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Alignment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2943225"/>
            <a:ext cx="481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Nothing should be placed randomly. Every element should have a visual connection with something else on the page.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0337" y="18669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6510337" y="2390775"/>
            <a:ext cx="50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Contrast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510337" y="2943225"/>
            <a:ext cx="4815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Make important elements stand out. Use light vs. dark and large vs. small to create a clear "Order of Importance."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77738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66775" y="5301257"/>
            <a:ext cx="50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Whitespace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5853707"/>
            <a:ext cx="4815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Let your design breathe. Clutter is the enemy of professional apps. Space creates luxury and clarity.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0337" y="477738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510337" y="5301257"/>
            <a:ext cx="505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Typography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10337" y="5853707"/>
            <a:ext cx="4815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Limit yourself to 2 fonts. Use weight (Bold/Regular) to distinguish between headers and body text.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7850" y="1590975"/>
            <a:ext cx="52387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30050" y="5714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"HALL OF SHAME"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33657" y="1630018"/>
            <a:ext cx="255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Bad UI (Visuals)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12938" y="4399811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Bad UX (Flow)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062" y="165218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42975" y="2236886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Cluttered layouts with zero breathing room.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42975" y="2762547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Using 5+ different colors that clash.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42975" y="3288208"/>
            <a:ext cx="4867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Low contrast (e.g., light gray text on white background).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062" y="44260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840847" y="4990568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Infinite loading screens with no status bar.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0847" y="5516229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Hidden "Next" or "Submit" buttons.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0847" y="6041890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Asking for too much info before letting a user in.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2749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006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263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062" y="49975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062" y="55232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062" y="6048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2723" y="1956976"/>
            <a:ext cx="6235602" cy="32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 rotWithShape="1">
          <a:blip r:embed="rId4">
            <a:alphaModFix/>
          </a:blip>
          <a:srcRect b="8960" l="25055" r="26229" t="2151"/>
          <a:stretch/>
        </p:blipFill>
        <p:spPr>
          <a:xfrm>
            <a:off x="3126300" y="381000"/>
            <a:ext cx="5939400" cy="60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497"/>
            <a:ext cx="5405437" cy="2209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600497"/>
            <a:ext cx="5405437" cy="2209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48125"/>
            <a:ext cx="5405437" cy="2209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4048125"/>
            <a:ext cx="5405437" cy="220950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9E0B"/>
                </a:solidFill>
                <a:latin typeface="Manrope"/>
                <a:ea typeface="Manrope"/>
                <a:cs typeface="Manrope"/>
                <a:sym typeface="Manrope"/>
              </a:rPr>
              <a:t>INTERACTIVE: HOST QUESTIONS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914400" y="1895772"/>
            <a:ext cx="476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Q1: Personal Experience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14400" y="2326183"/>
            <a:ext cx="4767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"Think of an app you deleted within 5 minutes. Was it because it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looked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bad or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felt</a:t>
            </a: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difficult to use?"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57962" y="1895772"/>
            <a:ext cx="476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Q2: The Why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557962" y="2326183"/>
            <a:ext cx="4767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"Why do you think apps like Instagram or Spotify look so simple despite having thousands of lines of complex code?"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14400" y="4343400"/>
            <a:ext cx="476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Q3: Function vs. Form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14400" y="4773810"/>
            <a:ext cx="4767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"If you had to choose: An app that is beautiful but slow, or an app that is ugly but lightning fast? Why?"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57962" y="4343400"/>
            <a:ext cx="4767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Q4: Real World Design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557962" y="4773810"/>
            <a:ext cx="4767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"Look at the Zoom/Google Meet UI right now. What is one thing you would change to make it 'Master-Class'?"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043"/>
            <a:ext cx="5238750" cy="2870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09043"/>
            <a:ext cx="5238750" cy="2870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661675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LOGIC VS. EXPERIENCE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536049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"You can have the best code, but if it's messy, nobody will use it."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499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62025" y="3147268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Logic Layer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62025" y="3583483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Calculations, databases, and API integrations. It's the "brain" of your app. Vital, but invisible to the user.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499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772275" y="3147268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Experience Layer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772275" y="3583483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Color, typography, and flow. It's the "face" of your app. This determines if a user stays or deletes in 3 seconds.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1564"/>
            <a:ext cx="5238750" cy="420141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571500"/>
            <a:ext cx="11401425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ENTER KODULAR.IO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571500"/>
            <a:ext cx="76200" cy="5656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1801564"/>
            <a:ext cx="550068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Professional Android Dev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241681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Kodular is a sophisticated cloud ecosystem designed for elite no-code developers.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11089"/>
            <a:ext cx="1314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066800" y="3277641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175+ Components: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From animations to complex databases.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066800" y="4186088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Material Design: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Modern Google-standard UI built-in.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000125" y="5094535"/>
            <a:ext cx="4810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Testing: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Instant updates via the Companion App.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20504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28951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3739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0025" y="648737"/>
            <a:ext cx="9677400" cy="5619900"/>
          </a:xfrm>
          <a:prstGeom prst="roundRect">
            <a:avLst>
              <a:gd fmla="val 518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9543"/>
            <a:ext cx="3492400" cy="3205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99543"/>
            <a:ext cx="3492549" cy="3205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99543"/>
            <a:ext cx="3492400" cy="3205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560125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THE RULEBOOK OF DESIGN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90068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962025" y="3337768"/>
            <a:ext cx="28469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 Hierarchy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62025" y="3773983"/>
            <a:ext cx="27113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Guiding the user's eye to the most important actions using size, weight, and position.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6900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4740175" y="3337768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Consistency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740175" y="3773983"/>
            <a:ext cx="27114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Maintaining predictable patterns. Buttons and icons should behave the same across every screen.</a:t>
            </a:r>
            <a:endParaRPr/>
          </a:p>
        </p:txBody>
      </p:sp>
      <p:pic>
        <p:nvPicPr>
          <p:cNvPr descr="image.png" id="228" name="Google Shape;22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690068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8518475" y="3337768"/>
            <a:ext cx="284691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Clarity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518475" y="3773983"/>
            <a:ext cx="27113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Removing friction. If a user has to "think" about how to use a feature, the design has failed.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5401"/>
            <a:ext cx="5238750" cy="375389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762000" y="5715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THE RO</a:t>
            </a:r>
            <a:r>
              <a:rPr b="1" lang="en-US" sz="4050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LE</a:t>
            </a:r>
            <a:r>
              <a:rPr b="1" i="0" lang="en-US" sz="4050" u="none" cap="none" strike="noStrike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 OF GREAT UX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297269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10B981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94%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449669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FIRST IMPRESSIONS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72275" y="2415926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Numbers Matter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772275" y="2852142"/>
            <a:ext cx="44577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Research shows that 94% of a user's initial impression of an app is design-related. Furthermore, a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1-second delay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 load time or a confusing layout can lead to a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7% drop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 user conversions.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915150" y="4843550"/>
            <a:ext cx="4314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the professional world, design is not an extra—it is the foundation.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7441"/>
            <a:ext cx="5238750" cy="350966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60125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Manrope"/>
                <a:ea typeface="Manrope"/>
                <a:cs typeface="Manrope"/>
                <a:sym typeface="Manrope"/>
              </a:rPr>
              <a:t>THE SCIENCE OF COLOR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2341137"/>
            <a:ext cx="5500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Psychology &amp; Branding</a:t>
            </a:r>
            <a:endParaRPr sz="1700"/>
          </a:p>
        </p:txBody>
      </p:sp>
      <p:sp>
        <p:nvSpPr>
          <p:cNvPr id="251" name="Google Shape;251;p24"/>
          <p:cNvSpPr txBox="1"/>
          <p:nvPr/>
        </p:nvSpPr>
        <p:spPr>
          <a:xfrm>
            <a:off x="571500" y="2722650"/>
            <a:ext cx="5238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Choosing a palette isn't about "liking" a color; it's about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emotional intent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56966"/>
            <a:ext cx="5219700" cy="349061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994581" y="3663802"/>
            <a:ext cx="478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Green: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Growth, Success, Connectivity.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94581" y="4237088"/>
            <a:ext cx="478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Blue: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Trust, Stability, Professionalism.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94581" y="4810374"/>
            <a:ext cx="478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Dark Tones: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Focus, Modernity, Elegance.</a:t>
            </a:r>
            <a:endParaRPr/>
          </a:p>
        </p:txBody>
      </p:sp>
      <p:pic>
        <p:nvPicPr>
          <p:cNvPr descr="image.png" id="256" name="Google Shape;25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11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344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0774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762000" y="571500"/>
            <a:ext cx="11401425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COMPARISON: KODULAR VS. OTHERS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76200" cy="5656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" name="Google Shape;266;p25"/>
          <p:cNvGraphicFramePr/>
          <p:nvPr/>
        </p:nvGraphicFramePr>
        <p:xfrm>
          <a:off x="571500" y="24211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{B10D428D-9613-4FF2-AE0C-9B80C5F68DC0}</a:tableStyleId>
              </a:tblPr>
              <a:tblGrid>
                <a:gridCol w="3269750"/>
                <a:gridCol w="3347150"/>
                <a:gridCol w="4432100"/>
              </a:tblGrid>
              <a:tr h="6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Blocks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Kodular.io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 Library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Limited (~50)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Advanced (175+)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6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Design Language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Legacy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Material Design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6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Monetization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Basic / 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Full AdMob/IAP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6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Infrastructure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Academic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Professional Cloud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25"/>
          <p:cNvSpPr/>
          <p:nvPr/>
        </p:nvSpPr>
        <p:spPr>
          <a:xfrm>
            <a:off x="571500" y="3068835"/>
            <a:ext cx="326975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841253" y="3068835"/>
            <a:ext cx="334714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7188398" y="3068835"/>
            <a:ext cx="44321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702248"/>
            <a:ext cx="32697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841253" y="3702248"/>
            <a:ext cx="3347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7188398" y="3702248"/>
            <a:ext cx="4432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4321373"/>
            <a:ext cx="32697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3841253" y="4321373"/>
            <a:ext cx="3347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188398" y="4321373"/>
            <a:ext cx="4432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4940498"/>
            <a:ext cx="32697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3841253" y="4940498"/>
            <a:ext cx="3347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7188398" y="4940498"/>
            <a:ext cx="4432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5559623"/>
            <a:ext cx="32697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841253" y="5559623"/>
            <a:ext cx="33471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7188398" y="5559623"/>
            <a:ext cx="44321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7600" y="3680525"/>
            <a:ext cx="4676775" cy="138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2705576" y="1417439"/>
            <a:ext cx="67808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CORE TEAM HUNT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2286000" y="244613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Ananye, Tejas, and Aviral are looking for the creative eyes behind the screen. Show us your vision.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4305300" y="5166270"/>
            <a:ext cx="3581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#DAVHackLab #UIUXDesign #SummerOfCode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4338637" y="3880544"/>
            <a:ext cx="35147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4338637" y="4310955"/>
            <a:ext cx="3514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Workspace Prep: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Kodular.io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(Sign in via Google)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